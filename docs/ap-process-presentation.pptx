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Be Vietnam Pr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eVietnamPr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BeVietnamPr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BeVietnamPr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BeVietnamPr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43bb17e5c0c0571e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h43bb17e5c0c0571e_3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43bb17e5c0c0571e_3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h43bb17e5c0c0571e_3_8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43bb17e5c0c0571e_3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h43bb17e5c0c0571e_3_1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43bb17e5c0c0571e_3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h43bb17e5c0c0571e_3_1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h43bb17e5c0c0571e_3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h43bb17e5c0c0571e_3_1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h43bb17e5c0c057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h43bb17e5c0c0571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h43bb17e5c0c0571e_3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h43bb17e5c0c0571e_3_1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h43bb17e5c0c0571e_3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h43bb17e5c0c0571e_3_1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h43bb17e5c0c0571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h43bb17e5c0c0571e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h43bb17e5c0c0571e_3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h43bb17e5c0c0571e_3_2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253" y="1628775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2CC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714375" y="3005286"/>
            <a:ext cx="571500" cy="42863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714375" y="1366688"/>
            <a:ext cx="8429625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8FAFC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INUT DESIGN / INTERNAL PROCESS</a:t>
            </a:r>
            <a:endParaRPr sz="1100"/>
          </a:p>
        </p:txBody>
      </p:sp>
      <p:sp>
        <p:nvSpPr>
          <p:cNvPr id="131" name="Google Shape;131;p25"/>
          <p:cNvSpPr txBox="1"/>
          <p:nvPr/>
        </p:nvSpPr>
        <p:spPr>
          <a:xfrm>
            <a:off x="714375" y="1702445"/>
            <a:ext cx="6825853" cy="1131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10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Accounts Payable Process</a:t>
            </a:r>
            <a:endParaRPr sz="1100"/>
          </a:p>
        </p:txBody>
      </p:sp>
      <p:sp>
        <p:nvSpPr>
          <p:cNvPr id="132" name="Google Shape;132;p25"/>
          <p:cNvSpPr txBox="1"/>
          <p:nvPr/>
        </p:nvSpPr>
        <p:spPr>
          <a:xfrm>
            <a:off x="714375" y="3276749"/>
            <a:ext cx="507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E9F2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Quy trình quản lý chi phí với Trello. </a:t>
            </a:r>
            <a:endParaRPr sz="1100"/>
          </a:p>
        </p:txBody>
      </p:sp>
      <p:pic>
        <p:nvPicPr>
          <p:cNvPr id="133" name="Google Shape;133;p25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75" y="440875"/>
            <a:ext cx="1718226" cy="49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/>
          <p:nvPr/>
        </p:nvSpPr>
        <p:spPr>
          <a:xfrm>
            <a:off x="571500" y="1513024"/>
            <a:ext cx="3886200" cy="1435894"/>
          </a:xfrm>
          <a:prstGeom prst="roundRect">
            <a:avLst>
              <a:gd fmla="val 79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6"/>
          <p:cNvSpPr/>
          <p:nvPr/>
        </p:nvSpPr>
        <p:spPr>
          <a:xfrm>
            <a:off x="4686300" y="1513024"/>
            <a:ext cx="3886200" cy="1435894"/>
          </a:xfrm>
          <a:prstGeom prst="roundRect">
            <a:avLst>
              <a:gd fmla="val 79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6"/>
          <p:cNvSpPr/>
          <p:nvPr/>
        </p:nvSpPr>
        <p:spPr>
          <a:xfrm>
            <a:off x="571500" y="3177518"/>
            <a:ext cx="3886200" cy="1435894"/>
          </a:xfrm>
          <a:prstGeom prst="roundRect">
            <a:avLst>
              <a:gd fmla="val 79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6"/>
          <p:cNvSpPr/>
          <p:nvPr/>
        </p:nvSpPr>
        <p:spPr>
          <a:xfrm>
            <a:off x="4686300" y="3177518"/>
            <a:ext cx="3886200" cy="1435894"/>
          </a:xfrm>
          <a:prstGeom prst="roundRect">
            <a:avLst>
              <a:gd fmla="val 79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2" name="Google Shape;14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1827349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2050" y="1827349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3491843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72050" y="3491843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6"/>
          <p:cNvSpPr txBox="1"/>
          <p:nvPr/>
        </p:nvSpPr>
        <p:spPr>
          <a:xfrm>
            <a:off x="571500" y="457200"/>
            <a:ext cx="85725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052CC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BỐI CẢNH</a:t>
            </a:r>
            <a:endParaRPr sz="1100"/>
          </a:p>
        </p:txBody>
      </p:sp>
      <p:sp>
        <p:nvSpPr>
          <p:cNvPr id="147" name="Google Shape;147;p26"/>
          <p:cNvSpPr txBox="1"/>
          <p:nvPr/>
        </p:nvSpPr>
        <p:spPr>
          <a:xfrm>
            <a:off x="571500" y="685800"/>
            <a:ext cx="8572500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72B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Cuối tháng đừng biến thành trò thám tử</a:t>
            </a:r>
            <a:endParaRPr sz="1100"/>
          </a:p>
        </p:txBody>
      </p:sp>
      <p:sp>
        <p:nvSpPr>
          <p:cNvPr id="148" name="Google Shape;148;p26"/>
          <p:cNvSpPr txBox="1"/>
          <p:nvPr/>
        </p:nvSpPr>
        <p:spPr>
          <a:xfrm>
            <a:off x="857250" y="2198824"/>
            <a:ext cx="4350544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72B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Người đề nghị</a:t>
            </a:r>
            <a:endParaRPr sz="1100"/>
          </a:p>
        </p:txBody>
      </p:sp>
      <p:sp>
        <p:nvSpPr>
          <p:cNvPr id="149" name="Google Shape;149;p26"/>
          <p:cNvSpPr txBox="1"/>
          <p:nvPr/>
        </p:nvSpPr>
        <p:spPr>
          <a:xfrm>
            <a:off x="857250" y="2498861"/>
            <a:ext cx="4143375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E6C8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"Khoản này phục vụ việc gì, cho ai?"</a:t>
            </a:r>
            <a:endParaRPr sz="1100"/>
          </a:p>
        </p:txBody>
      </p:sp>
      <p:sp>
        <p:nvSpPr>
          <p:cNvPr id="150" name="Google Shape;150;p26"/>
          <p:cNvSpPr txBox="1"/>
          <p:nvPr/>
        </p:nvSpPr>
        <p:spPr>
          <a:xfrm>
            <a:off x="4972050" y="2198824"/>
            <a:ext cx="417195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72B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Giám đốc</a:t>
            </a:r>
            <a:endParaRPr sz="1100"/>
          </a:p>
        </p:txBody>
      </p:sp>
      <p:sp>
        <p:nvSpPr>
          <p:cNvPr id="151" name="Google Shape;151;p26"/>
          <p:cNvSpPr txBox="1"/>
          <p:nvPr/>
        </p:nvSpPr>
        <p:spPr>
          <a:xfrm>
            <a:off x="4972050" y="2498861"/>
            <a:ext cx="4143375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E6C8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"Ticket này đang chờ ai duyệt?"</a:t>
            </a:r>
            <a:endParaRPr sz="1100"/>
          </a:p>
        </p:txBody>
      </p:sp>
      <p:sp>
        <p:nvSpPr>
          <p:cNvPr id="152" name="Google Shape;152;p26"/>
          <p:cNvSpPr txBox="1"/>
          <p:nvPr/>
        </p:nvSpPr>
        <p:spPr>
          <a:xfrm>
            <a:off x="857250" y="3863318"/>
            <a:ext cx="4350544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72B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Kế toán</a:t>
            </a:r>
            <a:endParaRPr sz="1100"/>
          </a:p>
        </p:txBody>
      </p:sp>
      <p:sp>
        <p:nvSpPr>
          <p:cNvPr id="153" name="Google Shape;153;p26"/>
          <p:cNvSpPr txBox="1"/>
          <p:nvPr/>
        </p:nvSpPr>
        <p:spPr>
          <a:xfrm>
            <a:off x="857250" y="4163355"/>
            <a:ext cx="4143375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E6C8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"Đã trả chưa? Ngày giờ thực chi đâu?"</a:t>
            </a:r>
            <a:endParaRPr sz="1100"/>
          </a:p>
        </p:txBody>
      </p:sp>
      <p:sp>
        <p:nvSpPr>
          <p:cNvPr id="154" name="Google Shape;154;p26"/>
          <p:cNvSpPr txBox="1"/>
          <p:nvPr/>
        </p:nvSpPr>
        <p:spPr>
          <a:xfrm>
            <a:off x="4972050" y="3863318"/>
            <a:ext cx="417195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72B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Cuối tháng</a:t>
            </a:r>
            <a:endParaRPr sz="1100"/>
          </a:p>
        </p:txBody>
      </p:sp>
      <p:sp>
        <p:nvSpPr>
          <p:cNvPr id="155" name="Google Shape;155;p26"/>
          <p:cNvSpPr txBox="1"/>
          <p:nvPr/>
        </p:nvSpPr>
        <p:spPr>
          <a:xfrm>
            <a:off x="4972050" y="4163355"/>
            <a:ext cx="4143375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E6C8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"Breakdown hạng mục đâu, lại đi gom nhé?"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/>
          <p:nvPr/>
        </p:nvSpPr>
        <p:spPr>
          <a:xfrm>
            <a:off x="571500" y="2423852"/>
            <a:ext cx="2476537" cy="172164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7"/>
          <p:cNvSpPr/>
          <p:nvPr/>
        </p:nvSpPr>
        <p:spPr>
          <a:xfrm>
            <a:off x="3333787" y="2423852"/>
            <a:ext cx="2476537" cy="172164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7"/>
          <p:cNvSpPr/>
          <p:nvPr/>
        </p:nvSpPr>
        <p:spPr>
          <a:xfrm>
            <a:off x="6096074" y="2423852"/>
            <a:ext cx="2476537" cy="172164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7"/>
          <p:cNvSpPr/>
          <p:nvPr/>
        </p:nvSpPr>
        <p:spPr>
          <a:xfrm>
            <a:off x="571500" y="2423852"/>
            <a:ext cx="28575" cy="1721644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7"/>
          <p:cNvSpPr/>
          <p:nvPr/>
        </p:nvSpPr>
        <p:spPr>
          <a:xfrm>
            <a:off x="3333787" y="2423852"/>
            <a:ext cx="28575" cy="1721644"/>
          </a:xfrm>
          <a:prstGeom prst="rect">
            <a:avLst/>
          </a:prstGeom>
          <a:solidFill>
            <a:srgbClr val="36B37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7"/>
          <p:cNvSpPr/>
          <p:nvPr/>
        </p:nvSpPr>
        <p:spPr>
          <a:xfrm>
            <a:off x="6096074" y="2423852"/>
            <a:ext cx="28575" cy="1721644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7"/>
          <p:cNvSpPr txBox="1"/>
          <p:nvPr/>
        </p:nvSpPr>
        <p:spPr>
          <a:xfrm>
            <a:off x="571500" y="457200"/>
            <a:ext cx="85725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052CC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MỤC TIÊU</a:t>
            </a:r>
            <a:endParaRPr sz="1100"/>
          </a:p>
        </p:txBody>
      </p:sp>
      <p:sp>
        <p:nvSpPr>
          <p:cNvPr id="167" name="Google Shape;167;p27"/>
          <p:cNvSpPr txBox="1"/>
          <p:nvPr/>
        </p:nvSpPr>
        <p:spPr>
          <a:xfrm>
            <a:off x="571500" y="685800"/>
            <a:ext cx="8572500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72B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Trả lời 3 câu hỏi ngay khi mở ticket</a:t>
            </a:r>
            <a:endParaRPr sz="1100"/>
          </a:p>
        </p:txBody>
      </p:sp>
      <p:sp>
        <p:nvSpPr>
          <p:cNvPr id="168" name="Google Shape;168;p27"/>
          <p:cNvSpPr txBox="1"/>
          <p:nvPr/>
        </p:nvSpPr>
        <p:spPr>
          <a:xfrm>
            <a:off x="571500" y="1211535"/>
            <a:ext cx="85725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5E6C8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Vì sao chi? Ai đang xử lý? Đã chi thế nào?</a:t>
            </a:r>
            <a:endParaRPr sz="1100"/>
          </a:p>
        </p:txBody>
      </p:sp>
      <p:sp>
        <p:nvSpPr>
          <p:cNvPr id="169" name="Google Shape;169;p27"/>
          <p:cNvSpPr txBox="1"/>
          <p:nvPr/>
        </p:nvSpPr>
        <p:spPr>
          <a:xfrm>
            <a:off x="828675" y="2652452"/>
            <a:ext cx="2612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0052CC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01</a:t>
            </a:r>
            <a:endParaRPr sz="1100"/>
          </a:p>
        </p:txBody>
      </p:sp>
      <p:sp>
        <p:nvSpPr>
          <p:cNvPr id="170" name="Google Shape;170;p27"/>
          <p:cNvSpPr txBox="1"/>
          <p:nvPr/>
        </p:nvSpPr>
        <p:spPr>
          <a:xfrm>
            <a:off x="828675" y="3223952"/>
            <a:ext cx="2612875" cy="2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72B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Ghi rõ</a:t>
            </a:r>
            <a:endParaRPr sz="1100"/>
          </a:p>
        </p:txBody>
      </p:sp>
      <p:sp>
        <p:nvSpPr>
          <p:cNvPr id="171" name="Google Shape;171;p27"/>
          <p:cNvSpPr txBox="1"/>
          <p:nvPr/>
        </p:nvSpPr>
        <p:spPr>
          <a:xfrm>
            <a:off x="828675" y="3588283"/>
            <a:ext cx="206219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E6C8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Mục đích, người nhận và chứng từ đính kèm.</a:t>
            </a:r>
            <a:endParaRPr sz="1100"/>
          </a:p>
        </p:txBody>
      </p:sp>
      <p:sp>
        <p:nvSpPr>
          <p:cNvPr id="172" name="Google Shape;172;p27"/>
          <p:cNvSpPr txBox="1"/>
          <p:nvPr/>
        </p:nvSpPr>
        <p:spPr>
          <a:xfrm>
            <a:off x="3590962" y="2652452"/>
            <a:ext cx="2612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02</a:t>
            </a:r>
            <a:endParaRPr sz="1100"/>
          </a:p>
        </p:txBody>
      </p:sp>
      <p:sp>
        <p:nvSpPr>
          <p:cNvPr id="173" name="Google Shape;173;p27"/>
          <p:cNvSpPr txBox="1"/>
          <p:nvPr/>
        </p:nvSpPr>
        <p:spPr>
          <a:xfrm>
            <a:off x="3590962" y="3223952"/>
            <a:ext cx="2612875" cy="2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72B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Chuyền đúng vai</a:t>
            </a:r>
            <a:endParaRPr sz="1100"/>
          </a:p>
        </p:txBody>
      </p:sp>
      <p:sp>
        <p:nvSpPr>
          <p:cNvPr id="174" name="Google Shape;174;p27"/>
          <p:cNvSpPr txBox="1"/>
          <p:nvPr/>
        </p:nvSpPr>
        <p:spPr>
          <a:xfrm>
            <a:off x="3590962" y="3588283"/>
            <a:ext cx="206219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E6C8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Requester → Giám đốc → Kế toán.</a:t>
            </a:r>
            <a:endParaRPr sz="1100"/>
          </a:p>
        </p:txBody>
      </p:sp>
      <p:sp>
        <p:nvSpPr>
          <p:cNvPr id="175" name="Google Shape;175;p27"/>
          <p:cNvSpPr txBox="1"/>
          <p:nvPr/>
        </p:nvSpPr>
        <p:spPr>
          <a:xfrm>
            <a:off x="6353249" y="2652452"/>
            <a:ext cx="2612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03</a:t>
            </a:r>
            <a:endParaRPr sz="1100"/>
          </a:p>
        </p:txBody>
      </p:sp>
      <p:sp>
        <p:nvSpPr>
          <p:cNvPr id="176" name="Google Shape;176;p27"/>
          <p:cNvSpPr txBox="1"/>
          <p:nvPr/>
        </p:nvSpPr>
        <p:spPr>
          <a:xfrm>
            <a:off x="6353249" y="3223952"/>
            <a:ext cx="2612875" cy="2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72B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Nhìn được số</a:t>
            </a:r>
            <a:endParaRPr sz="1100"/>
          </a:p>
        </p:txBody>
      </p:sp>
      <p:sp>
        <p:nvSpPr>
          <p:cNvPr id="177" name="Google Shape;177;p27"/>
          <p:cNvSpPr txBox="1"/>
          <p:nvPr/>
        </p:nvSpPr>
        <p:spPr>
          <a:xfrm>
            <a:off x="6353249" y="3588283"/>
            <a:ext cx="206219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E6C8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Tổng chi, tiền mặt và chuyển khoản theo hạng mục.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/>
          <p:nvPr/>
        </p:nvSpPr>
        <p:spPr>
          <a:xfrm>
            <a:off x="2300288" y="3611835"/>
            <a:ext cx="4543425" cy="692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8"/>
          <p:cNvSpPr/>
          <p:nvPr/>
        </p:nvSpPr>
        <p:spPr>
          <a:xfrm>
            <a:off x="1143000" y="1897335"/>
            <a:ext cx="6858000" cy="28575"/>
          </a:xfrm>
          <a:prstGeom prst="rect">
            <a:avLst/>
          </a:prstGeom>
          <a:solidFill>
            <a:srgbClr val="DFE1E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8"/>
          <p:cNvSpPr/>
          <p:nvPr/>
        </p:nvSpPr>
        <p:spPr>
          <a:xfrm>
            <a:off x="2300288" y="3611835"/>
            <a:ext cx="28575" cy="692944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5" name="Google Shape;18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4613" y="384400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8"/>
          <p:cNvSpPr txBox="1"/>
          <p:nvPr/>
        </p:nvSpPr>
        <p:spPr>
          <a:xfrm>
            <a:off x="571500" y="457200"/>
            <a:ext cx="85725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052CC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LUỒNG XỬ LÝ</a:t>
            </a:r>
            <a:endParaRPr sz="1100"/>
          </a:p>
        </p:txBody>
      </p:sp>
      <p:sp>
        <p:nvSpPr>
          <p:cNvPr id="187" name="Google Shape;187;p28"/>
          <p:cNvSpPr txBox="1"/>
          <p:nvPr/>
        </p:nvSpPr>
        <p:spPr>
          <a:xfrm>
            <a:off x="571500" y="685800"/>
            <a:ext cx="8572500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72B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Chuyển đúng người — không nhảy cóc</a:t>
            </a:r>
            <a:endParaRPr sz="1100"/>
          </a:p>
        </p:txBody>
      </p:sp>
      <p:sp>
        <p:nvSpPr>
          <p:cNvPr id="188" name="Google Shape;188;p28"/>
          <p:cNvSpPr txBox="1"/>
          <p:nvPr/>
        </p:nvSpPr>
        <p:spPr>
          <a:xfrm>
            <a:off x="3014663" y="3783285"/>
            <a:ext cx="4429125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72B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Đừng vội Archive!</a:t>
            </a:r>
            <a:endParaRPr sz="1100"/>
          </a:p>
        </p:txBody>
      </p:sp>
      <p:sp>
        <p:nvSpPr>
          <p:cNvPr id="189" name="Google Shape;189;p28"/>
          <p:cNvSpPr txBox="1"/>
          <p:nvPr/>
        </p:nvSpPr>
        <p:spPr>
          <a:xfrm>
            <a:off x="3014663" y="3990454"/>
            <a:ext cx="44291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E6C8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Chưa chi? Chuyển Discard. Đã Paid? Giữ lại để service tính tổng.</a:t>
            </a:r>
            <a:endParaRPr sz="1100"/>
          </a:p>
        </p:txBody>
      </p:sp>
      <p:sp>
        <p:nvSpPr>
          <p:cNvPr id="190" name="Google Shape;190;p28"/>
          <p:cNvSpPr/>
          <p:nvPr/>
        </p:nvSpPr>
        <p:spPr>
          <a:xfrm>
            <a:off x="1521619" y="1668735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052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8"/>
          <p:cNvSpPr/>
          <p:nvPr/>
        </p:nvSpPr>
        <p:spPr>
          <a:xfrm>
            <a:off x="1350169" y="2854598"/>
            <a:ext cx="800100" cy="185738"/>
          </a:xfrm>
          <a:prstGeom prst="roundRect">
            <a:avLst>
              <a:gd fmla="val 15384" name="adj"/>
            </a:avLst>
          </a:prstGeom>
          <a:solidFill>
            <a:srgbClr val="E9F2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8"/>
          <p:cNvSpPr/>
          <p:nvPr/>
        </p:nvSpPr>
        <p:spPr>
          <a:xfrm>
            <a:off x="4343400" y="1668735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052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8"/>
          <p:cNvSpPr/>
          <p:nvPr/>
        </p:nvSpPr>
        <p:spPr>
          <a:xfrm>
            <a:off x="4218384" y="2854598"/>
            <a:ext cx="707231" cy="185738"/>
          </a:xfrm>
          <a:prstGeom prst="roundRect">
            <a:avLst>
              <a:gd fmla="val 15384" name="adj"/>
            </a:avLst>
          </a:prstGeom>
          <a:solidFill>
            <a:srgbClr val="E9F2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8"/>
          <p:cNvSpPr/>
          <p:nvPr/>
        </p:nvSpPr>
        <p:spPr>
          <a:xfrm>
            <a:off x="7165181" y="1668735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36B37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8"/>
          <p:cNvSpPr/>
          <p:nvPr/>
        </p:nvSpPr>
        <p:spPr>
          <a:xfrm>
            <a:off x="7083028" y="2854598"/>
            <a:ext cx="621506" cy="185738"/>
          </a:xfrm>
          <a:prstGeom prst="roundRect">
            <a:avLst>
              <a:gd fmla="val 15384" name="adj"/>
            </a:avLst>
          </a:prstGeom>
          <a:solidFill>
            <a:srgbClr val="E3FCE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1414463" y="1668735"/>
            <a:ext cx="6715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1</a:t>
            </a:r>
            <a:endParaRPr sz="1100"/>
          </a:p>
        </p:txBody>
      </p:sp>
      <p:sp>
        <p:nvSpPr>
          <p:cNvPr id="197" name="Google Shape;197;p28"/>
          <p:cNvSpPr txBox="1"/>
          <p:nvPr/>
        </p:nvSpPr>
        <p:spPr>
          <a:xfrm>
            <a:off x="1397674" y="2297385"/>
            <a:ext cx="70508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72B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Draft</a:t>
            </a:r>
            <a:endParaRPr sz="1100"/>
          </a:p>
        </p:txBody>
      </p:sp>
      <p:sp>
        <p:nvSpPr>
          <p:cNvPr id="198" name="Google Shape;198;p28"/>
          <p:cNvSpPr txBox="1"/>
          <p:nvPr/>
        </p:nvSpPr>
        <p:spPr>
          <a:xfrm>
            <a:off x="714375" y="2597423"/>
            <a:ext cx="207168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E6C8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Soạn rõ mục đích và chứng từ.</a:t>
            </a:r>
            <a:endParaRPr sz="1100"/>
          </a:p>
        </p:txBody>
      </p:sp>
      <p:sp>
        <p:nvSpPr>
          <p:cNvPr id="199" name="Google Shape;199;p28"/>
          <p:cNvSpPr txBox="1"/>
          <p:nvPr/>
        </p:nvSpPr>
        <p:spPr>
          <a:xfrm>
            <a:off x="1328738" y="2883173"/>
            <a:ext cx="842963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052CC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REQUESTER</a:t>
            </a:r>
            <a:endParaRPr sz="1100"/>
          </a:p>
        </p:txBody>
      </p:sp>
      <p:sp>
        <p:nvSpPr>
          <p:cNvPr id="200" name="Google Shape;200;p28"/>
          <p:cNvSpPr txBox="1"/>
          <p:nvPr/>
        </p:nvSpPr>
        <p:spPr>
          <a:xfrm>
            <a:off x="4236244" y="1668735"/>
            <a:ext cx="6715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2</a:t>
            </a:r>
            <a:endParaRPr sz="1100"/>
          </a:p>
        </p:txBody>
      </p:sp>
      <p:sp>
        <p:nvSpPr>
          <p:cNvPr id="201" name="Google Shape;201;p28"/>
          <p:cNvSpPr txBox="1"/>
          <p:nvPr/>
        </p:nvSpPr>
        <p:spPr>
          <a:xfrm>
            <a:off x="4016930" y="2297385"/>
            <a:ext cx="1110139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72B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Approved</a:t>
            </a:r>
            <a:endParaRPr sz="1100"/>
          </a:p>
        </p:txBody>
      </p:sp>
      <p:sp>
        <p:nvSpPr>
          <p:cNvPr id="202" name="Google Shape;202;p28"/>
          <p:cNvSpPr txBox="1"/>
          <p:nvPr/>
        </p:nvSpPr>
        <p:spPr>
          <a:xfrm>
            <a:off x="3594199" y="2597423"/>
            <a:ext cx="195560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E6C8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Review tính hợp lý để duyệt.</a:t>
            </a:r>
            <a:endParaRPr sz="1100"/>
          </a:p>
        </p:txBody>
      </p:sp>
      <p:sp>
        <p:nvSpPr>
          <p:cNvPr id="203" name="Google Shape;203;p28"/>
          <p:cNvSpPr txBox="1"/>
          <p:nvPr/>
        </p:nvSpPr>
        <p:spPr>
          <a:xfrm>
            <a:off x="4196953" y="2883173"/>
            <a:ext cx="750094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052CC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GIÁM ĐỐC</a:t>
            </a:r>
            <a:endParaRPr sz="1100"/>
          </a:p>
        </p:txBody>
      </p:sp>
      <p:sp>
        <p:nvSpPr>
          <p:cNvPr id="204" name="Google Shape;204;p28"/>
          <p:cNvSpPr txBox="1"/>
          <p:nvPr/>
        </p:nvSpPr>
        <p:spPr>
          <a:xfrm>
            <a:off x="7058025" y="1668735"/>
            <a:ext cx="6715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8FAFC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3</a:t>
            </a:r>
            <a:endParaRPr sz="1100"/>
          </a:p>
        </p:txBody>
      </p:sp>
      <p:sp>
        <p:nvSpPr>
          <p:cNvPr id="205" name="Google Shape;205;p28"/>
          <p:cNvSpPr txBox="1"/>
          <p:nvPr/>
        </p:nvSpPr>
        <p:spPr>
          <a:xfrm>
            <a:off x="7078742" y="2297385"/>
            <a:ext cx="630079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72B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Paid</a:t>
            </a:r>
            <a:endParaRPr sz="1100"/>
          </a:p>
        </p:txBody>
      </p:sp>
      <p:sp>
        <p:nvSpPr>
          <p:cNvPr id="206" name="Google Shape;206;p28"/>
          <p:cNvSpPr txBox="1"/>
          <p:nvPr/>
        </p:nvSpPr>
        <p:spPr>
          <a:xfrm>
            <a:off x="6335613" y="2597423"/>
            <a:ext cx="211633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E6C8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Xác nhận chứng từ và thực chi.</a:t>
            </a:r>
            <a:endParaRPr sz="1100"/>
          </a:p>
        </p:txBody>
      </p:sp>
      <p:sp>
        <p:nvSpPr>
          <p:cNvPr id="207" name="Google Shape;207;p28"/>
          <p:cNvSpPr txBox="1"/>
          <p:nvPr/>
        </p:nvSpPr>
        <p:spPr>
          <a:xfrm>
            <a:off x="7061597" y="2883173"/>
            <a:ext cx="664369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F172A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KẾ TOÁN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/>
          <p:nvPr/>
        </p:nvSpPr>
        <p:spPr>
          <a:xfrm>
            <a:off x="4743450" y="1171575"/>
            <a:ext cx="3829050" cy="571500"/>
          </a:xfrm>
          <a:prstGeom prst="roundRect">
            <a:avLst>
              <a:gd fmla="val 15000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9"/>
          <p:cNvSpPr/>
          <p:nvPr/>
        </p:nvSpPr>
        <p:spPr>
          <a:xfrm>
            <a:off x="4743450" y="1914525"/>
            <a:ext cx="3829050" cy="571500"/>
          </a:xfrm>
          <a:prstGeom prst="roundRect">
            <a:avLst>
              <a:gd fmla="val 15000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9"/>
          <p:cNvSpPr/>
          <p:nvPr/>
        </p:nvSpPr>
        <p:spPr>
          <a:xfrm>
            <a:off x="4743450" y="2657475"/>
            <a:ext cx="3829050" cy="571500"/>
          </a:xfrm>
          <a:prstGeom prst="roundRect">
            <a:avLst>
              <a:gd fmla="val 15000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9"/>
          <p:cNvSpPr/>
          <p:nvPr/>
        </p:nvSpPr>
        <p:spPr>
          <a:xfrm>
            <a:off x="4743450" y="3400425"/>
            <a:ext cx="3829050" cy="571500"/>
          </a:xfrm>
          <a:prstGeom prst="roundRect">
            <a:avLst>
              <a:gd fmla="val 15000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6" name="Google Shape;2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4900" y="13430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4900" y="208597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4900" y="28289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4900" y="357187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9"/>
          <p:cNvSpPr txBox="1"/>
          <p:nvPr/>
        </p:nvSpPr>
        <p:spPr>
          <a:xfrm>
            <a:off x="571500" y="1717402"/>
            <a:ext cx="478631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052CC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TIÊU CHUẨN</a:t>
            </a:r>
            <a:endParaRPr sz="1100"/>
          </a:p>
        </p:txBody>
      </p:sp>
      <p:sp>
        <p:nvSpPr>
          <p:cNvPr id="221" name="Google Shape;221;p29"/>
          <p:cNvSpPr txBox="1"/>
          <p:nvPr/>
        </p:nvSpPr>
        <p:spPr>
          <a:xfrm>
            <a:off x="571500" y="1946002"/>
            <a:ext cx="4095512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 u="none" cap="none" strike="noStrike">
                <a:solidFill>
                  <a:srgbClr val="172B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Để người duyệt khỏi hỏi vòng hai</a:t>
            </a:r>
            <a:endParaRPr sz="1100"/>
          </a:p>
        </p:txBody>
      </p:sp>
      <p:sp>
        <p:nvSpPr>
          <p:cNvPr id="222" name="Google Shape;222;p29"/>
          <p:cNvSpPr txBox="1"/>
          <p:nvPr/>
        </p:nvSpPr>
        <p:spPr>
          <a:xfrm>
            <a:off x="571500" y="2997473"/>
            <a:ext cx="292893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5E6C8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Một ticket "chuẩn" tiết kiệm thời gian cho cả ba phía.</a:t>
            </a:r>
            <a:endParaRPr sz="1100"/>
          </a:p>
        </p:txBody>
      </p:sp>
      <p:sp>
        <p:nvSpPr>
          <p:cNvPr id="223" name="Google Shape;223;p29"/>
          <p:cNvSpPr txBox="1"/>
          <p:nvPr/>
        </p:nvSpPr>
        <p:spPr>
          <a:xfrm>
            <a:off x="5286375" y="1368028"/>
            <a:ext cx="3232546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72B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Tiêu đề: [YYYY-MM] Tên khoản chi.</a:t>
            </a:r>
            <a:endParaRPr sz="1100"/>
          </a:p>
        </p:txBody>
      </p:sp>
      <p:sp>
        <p:nvSpPr>
          <p:cNvPr id="224" name="Google Shape;224;p29"/>
          <p:cNvSpPr txBox="1"/>
          <p:nvPr/>
        </p:nvSpPr>
        <p:spPr>
          <a:xfrm>
            <a:off x="5286375" y="2110978"/>
            <a:ext cx="2982515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72B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Mô tả rõ mục đích và người nhận.</a:t>
            </a:r>
            <a:endParaRPr sz="1100"/>
          </a:p>
        </p:txBody>
      </p:sp>
      <p:sp>
        <p:nvSpPr>
          <p:cNvPr id="225" name="Google Shape;225;p29"/>
          <p:cNvSpPr txBox="1"/>
          <p:nvPr/>
        </p:nvSpPr>
        <p:spPr>
          <a:xfrm>
            <a:off x="5286375" y="2853928"/>
            <a:ext cx="2634257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72B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Điền đủ form Amazing Fields.</a:t>
            </a:r>
            <a:endParaRPr sz="1100"/>
          </a:p>
        </p:txBody>
      </p:sp>
      <p:sp>
        <p:nvSpPr>
          <p:cNvPr id="226" name="Google Shape;226;p29"/>
          <p:cNvSpPr txBox="1"/>
          <p:nvPr/>
        </p:nvSpPr>
        <p:spPr>
          <a:xfrm>
            <a:off x="5286375" y="3596878"/>
            <a:ext cx="2937867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72B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Đính kèm file native trong Trello.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878524" cy="2724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794675"/>
            <a:ext cx="3878534" cy="220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6350" y="855675"/>
            <a:ext cx="4283451" cy="3872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/>
          <p:nvPr/>
        </p:nvSpPr>
        <p:spPr>
          <a:xfrm>
            <a:off x="571500" y="1440135"/>
            <a:ext cx="3857625" cy="2838970"/>
          </a:xfrm>
          <a:prstGeom prst="roundRect">
            <a:avLst>
              <a:gd fmla="val 402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1"/>
          <p:cNvSpPr/>
          <p:nvPr/>
        </p:nvSpPr>
        <p:spPr>
          <a:xfrm>
            <a:off x="4714875" y="1440135"/>
            <a:ext cx="3857625" cy="2838970"/>
          </a:xfrm>
          <a:prstGeom prst="roundRect">
            <a:avLst>
              <a:gd fmla="val 402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1"/>
          <p:cNvSpPr/>
          <p:nvPr/>
        </p:nvSpPr>
        <p:spPr>
          <a:xfrm>
            <a:off x="571500" y="1440135"/>
            <a:ext cx="3857625" cy="57150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1"/>
          <p:cNvSpPr/>
          <p:nvPr/>
        </p:nvSpPr>
        <p:spPr>
          <a:xfrm>
            <a:off x="4714875" y="1440135"/>
            <a:ext cx="3857625" cy="57150"/>
          </a:xfrm>
          <a:prstGeom prst="rect">
            <a:avLst/>
          </a:prstGeom>
          <a:solidFill>
            <a:srgbClr val="DE350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2" name="Google Shape;24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322388"/>
            <a:ext cx="128588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636713"/>
            <a:ext cx="128588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951038"/>
            <a:ext cx="128588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7775" y="2322388"/>
            <a:ext cx="128588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7775" y="2636713"/>
            <a:ext cx="128588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7775" y="2951038"/>
            <a:ext cx="128588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1"/>
          <p:cNvSpPr txBox="1"/>
          <p:nvPr/>
        </p:nvSpPr>
        <p:spPr>
          <a:xfrm>
            <a:off x="571500" y="457200"/>
            <a:ext cx="85725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052CC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GIAO TIẾP</a:t>
            </a:r>
            <a:endParaRPr sz="1100"/>
          </a:p>
        </p:txBody>
      </p:sp>
      <p:sp>
        <p:nvSpPr>
          <p:cNvPr id="249" name="Google Shape;249;p31"/>
          <p:cNvSpPr txBox="1"/>
          <p:nvPr/>
        </p:nvSpPr>
        <p:spPr>
          <a:xfrm>
            <a:off x="571500" y="685800"/>
            <a:ext cx="8572500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72B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Chuyền lại, đừng ném bóng</a:t>
            </a:r>
            <a:endParaRPr sz="1100"/>
          </a:p>
        </p:txBody>
      </p:sp>
      <p:sp>
        <p:nvSpPr>
          <p:cNvPr id="250" name="Google Shape;250;p31"/>
          <p:cNvSpPr txBox="1"/>
          <p:nvPr/>
        </p:nvSpPr>
        <p:spPr>
          <a:xfrm>
            <a:off x="-214312" y="4507706"/>
            <a:ext cx="9572625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 u="none" cap="none" strike="noStrike">
                <a:solidFill>
                  <a:srgbClr val="5E6C8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"Trello Free không khóa role — quy trình phải do cả nhóm cùng giữ."</a:t>
            </a:r>
            <a:endParaRPr sz="1100"/>
          </a:p>
        </p:txBody>
      </p:sp>
      <p:sp>
        <p:nvSpPr>
          <p:cNvPr id="251" name="Google Shape;251;p31"/>
          <p:cNvSpPr txBox="1"/>
          <p:nvPr/>
        </p:nvSpPr>
        <p:spPr>
          <a:xfrm>
            <a:off x="914400" y="1840185"/>
            <a:ext cx="41630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172B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Cần bổ sung</a:t>
            </a:r>
            <a:endParaRPr sz="1100"/>
          </a:p>
        </p:txBody>
      </p:sp>
      <p:sp>
        <p:nvSpPr>
          <p:cNvPr id="252" name="Google Shape;252;p31"/>
          <p:cNvSpPr txBox="1"/>
          <p:nvPr/>
        </p:nvSpPr>
        <p:spPr>
          <a:xfrm>
            <a:off x="5057775" y="1840185"/>
            <a:ext cx="40862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172B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Urgent</a:t>
            </a:r>
            <a:endParaRPr sz="1100"/>
          </a:p>
        </p:txBody>
      </p:sp>
      <p:sp>
        <p:nvSpPr>
          <p:cNvPr id="253" name="Google Shape;253;p31"/>
          <p:cNvSpPr txBox="1"/>
          <p:nvPr/>
        </p:nvSpPr>
        <p:spPr>
          <a:xfrm>
            <a:off x="1157288" y="2297385"/>
            <a:ext cx="308967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E6C8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Comment chính xác phần thiếu sót.</a:t>
            </a:r>
            <a:endParaRPr sz="1100"/>
          </a:p>
        </p:txBody>
      </p:sp>
      <p:sp>
        <p:nvSpPr>
          <p:cNvPr id="254" name="Google Shape;254;p31"/>
          <p:cNvSpPr txBox="1"/>
          <p:nvPr/>
        </p:nvSpPr>
        <p:spPr>
          <a:xfrm>
            <a:off x="1157288" y="2611710"/>
            <a:ext cx="322361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E6C8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Assign hoặc @mention lại Requester.</a:t>
            </a:r>
            <a:endParaRPr sz="1100"/>
          </a:p>
        </p:txBody>
      </p:sp>
      <p:sp>
        <p:nvSpPr>
          <p:cNvPr id="255" name="Google Shape;255;p31"/>
          <p:cNvSpPr txBox="1"/>
          <p:nvPr/>
        </p:nvSpPr>
        <p:spPr>
          <a:xfrm>
            <a:off x="1157288" y="2926035"/>
            <a:ext cx="318789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E6C8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Sửa xong quay lại đúng bước review.</a:t>
            </a:r>
            <a:endParaRPr sz="1100"/>
          </a:p>
        </p:txBody>
      </p:sp>
      <p:sp>
        <p:nvSpPr>
          <p:cNvPr id="256" name="Google Shape;256;p31"/>
          <p:cNvSpPr txBox="1"/>
          <p:nvPr/>
        </p:nvSpPr>
        <p:spPr>
          <a:xfrm>
            <a:off x="5300663" y="2297385"/>
            <a:ext cx="337542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E6C8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Chỉ dán label khi deadline thực sự gấp.</a:t>
            </a:r>
            <a:endParaRPr sz="1100"/>
          </a:p>
        </p:txBody>
      </p:sp>
      <p:sp>
        <p:nvSpPr>
          <p:cNvPr id="257" name="Google Shape;257;p31"/>
          <p:cNvSpPr txBox="1"/>
          <p:nvPr/>
        </p:nvSpPr>
        <p:spPr>
          <a:xfrm>
            <a:off x="5300663" y="2611710"/>
            <a:ext cx="266104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E6C8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Bắt buộc điền thông tin Dates.</a:t>
            </a:r>
            <a:endParaRPr sz="1100"/>
          </a:p>
        </p:txBody>
      </p:sp>
      <p:sp>
        <p:nvSpPr>
          <p:cNvPr id="258" name="Google Shape;258;p31"/>
          <p:cNvSpPr txBox="1"/>
          <p:nvPr/>
        </p:nvSpPr>
        <p:spPr>
          <a:xfrm>
            <a:off x="5300663" y="2926035"/>
            <a:ext cx="351829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E6C8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Tuyệt đối không bỏ qua bước phê duyệt.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500" y="257532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71975" y="257532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15150" y="257532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2"/>
          <p:cNvSpPr txBox="1"/>
          <p:nvPr/>
        </p:nvSpPr>
        <p:spPr>
          <a:xfrm>
            <a:off x="-214312" y="1239440"/>
            <a:ext cx="9572625" cy="435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72B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Card Tổng: Nút thì để dành</a:t>
            </a:r>
            <a:endParaRPr sz="1100"/>
          </a:p>
        </p:txBody>
      </p:sp>
      <p:sp>
        <p:nvSpPr>
          <p:cNvPr id="267" name="Google Shape;267;p32"/>
          <p:cNvSpPr txBox="1"/>
          <p:nvPr/>
        </p:nvSpPr>
        <p:spPr>
          <a:xfrm>
            <a:off x="-214312" y="1789509"/>
            <a:ext cx="9572625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5E6C8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Paid xong số sẽ tự chạy. Kiểm tra thời điểm cập nhật trước khi dùng.</a:t>
            </a:r>
            <a:endParaRPr sz="1100"/>
          </a:p>
        </p:txBody>
      </p:sp>
      <p:sp>
        <p:nvSpPr>
          <p:cNvPr id="268" name="Google Shape;268;p32"/>
          <p:cNvSpPr txBox="1"/>
          <p:nvPr/>
        </p:nvSpPr>
        <p:spPr>
          <a:xfrm>
            <a:off x="687586" y="3203972"/>
            <a:ext cx="262532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172B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AUTO</a:t>
            </a:r>
            <a:endParaRPr sz="1100"/>
          </a:p>
        </p:txBody>
      </p:sp>
      <p:sp>
        <p:nvSpPr>
          <p:cNvPr id="269" name="Google Shape;269;p32"/>
          <p:cNvSpPr txBox="1"/>
          <p:nvPr/>
        </p:nvSpPr>
        <p:spPr>
          <a:xfrm>
            <a:off x="750094" y="3575447"/>
            <a:ext cx="2500313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E6C8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Tự động tính toán lại khi ticket chuyển sang Paid.</a:t>
            </a:r>
            <a:endParaRPr sz="1100"/>
          </a:p>
        </p:txBody>
      </p:sp>
      <p:sp>
        <p:nvSpPr>
          <p:cNvPr id="270" name="Google Shape;270;p32"/>
          <p:cNvSpPr txBox="1"/>
          <p:nvPr/>
        </p:nvSpPr>
        <p:spPr>
          <a:xfrm>
            <a:off x="3259336" y="3203972"/>
            <a:ext cx="262532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172B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MANUAL</a:t>
            </a:r>
            <a:endParaRPr sz="1100"/>
          </a:p>
        </p:txBody>
      </p:sp>
      <p:sp>
        <p:nvSpPr>
          <p:cNvPr id="271" name="Google Shape;271;p32"/>
          <p:cNvSpPr txBox="1"/>
          <p:nvPr/>
        </p:nvSpPr>
        <p:spPr>
          <a:xfrm>
            <a:off x="3321844" y="3575447"/>
            <a:ext cx="2500313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E6C8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Chỉ chủ động trigger Get Total khi thật sự cần thiết.</a:t>
            </a:r>
            <a:endParaRPr sz="1100"/>
          </a:p>
        </p:txBody>
      </p:sp>
      <p:sp>
        <p:nvSpPr>
          <p:cNvPr id="272" name="Google Shape;272;p32"/>
          <p:cNvSpPr txBox="1"/>
          <p:nvPr/>
        </p:nvSpPr>
        <p:spPr>
          <a:xfrm>
            <a:off x="5831086" y="3203972"/>
            <a:ext cx="262532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172B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DAILY</a:t>
            </a:r>
            <a:endParaRPr sz="1100"/>
          </a:p>
        </p:txBody>
      </p:sp>
      <p:sp>
        <p:nvSpPr>
          <p:cNvPr id="273" name="Google Shape;273;p32"/>
          <p:cNvSpPr txBox="1"/>
          <p:nvPr/>
        </p:nvSpPr>
        <p:spPr>
          <a:xfrm>
            <a:off x="5893594" y="3575447"/>
            <a:ext cx="2500313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E6C84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Hệ thống tự động chạy cron job cập nhật lúc 19:00.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"/>
          <p:cNvSpPr txBox="1"/>
          <p:nvPr/>
        </p:nvSpPr>
        <p:spPr>
          <a:xfrm>
            <a:off x="-157887" y="205090"/>
            <a:ext cx="9572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72B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Card Tổng</a:t>
            </a:r>
            <a:endParaRPr sz="1100"/>
          </a:p>
        </p:txBody>
      </p:sp>
      <p:pic>
        <p:nvPicPr>
          <p:cNvPr id="279" name="Google Shape;27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9425" y="789850"/>
            <a:ext cx="4585150" cy="374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B4D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"/>
          <p:cNvSpPr/>
          <p:nvPr/>
        </p:nvSpPr>
        <p:spPr>
          <a:xfrm>
            <a:off x="2182415" y="3823245"/>
            <a:ext cx="4779169" cy="50720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4"/>
          <p:cNvSpPr/>
          <p:nvPr/>
        </p:nvSpPr>
        <p:spPr>
          <a:xfrm>
            <a:off x="2182415" y="3823245"/>
            <a:ext cx="4779169" cy="7144"/>
          </a:xfrm>
          <a:prstGeom prst="rect">
            <a:avLst/>
          </a:prstGeom>
          <a:solidFill>
            <a:srgbClr val="34456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4"/>
          <p:cNvSpPr txBox="1"/>
          <p:nvPr/>
        </p:nvSpPr>
        <p:spPr>
          <a:xfrm>
            <a:off x="4079081" y="812936"/>
            <a:ext cx="98583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C7E6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CHỐT Ý</a:t>
            </a:r>
            <a:endParaRPr sz="1100"/>
          </a:p>
        </p:txBody>
      </p:sp>
      <p:sp>
        <p:nvSpPr>
          <p:cNvPr id="287" name="Google Shape;287;p34"/>
          <p:cNvSpPr txBox="1"/>
          <p:nvPr/>
        </p:nvSpPr>
        <p:spPr>
          <a:xfrm>
            <a:off x="352722" y="1198699"/>
            <a:ext cx="8438555" cy="1645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AP Process là thói quen chung, không chỉ là một nút bấm.</a:t>
            </a:r>
            <a:endParaRPr sz="1100"/>
          </a:p>
        </p:txBody>
      </p:sp>
      <p:sp>
        <p:nvSpPr>
          <p:cNvPr id="288" name="Google Shape;288;p34"/>
          <p:cNvSpPr txBox="1"/>
          <p:nvPr/>
        </p:nvSpPr>
        <p:spPr>
          <a:xfrm>
            <a:off x="2328863" y="3187451"/>
            <a:ext cx="764381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5ADBA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1. Ghi rõ</a:t>
            </a:r>
            <a:endParaRPr sz="1100"/>
          </a:p>
        </p:txBody>
      </p:sp>
      <p:sp>
        <p:nvSpPr>
          <p:cNvPr id="289" name="Google Shape;289;p34"/>
          <p:cNvSpPr txBox="1"/>
          <p:nvPr/>
        </p:nvSpPr>
        <p:spPr>
          <a:xfrm>
            <a:off x="3164681" y="3187451"/>
            <a:ext cx="292894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5ADBA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 sz="1100"/>
          </a:p>
        </p:txBody>
      </p:sp>
      <p:sp>
        <p:nvSpPr>
          <p:cNvPr id="290" name="Google Shape;290;p34"/>
          <p:cNvSpPr txBox="1"/>
          <p:nvPr/>
        </p:nvSpPr>
        <p:spPr>
          <a:xfrm>
            <a:off x="3472755" y="3187451"/>
            <a:ext cx="1634132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5ADBA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2. Review đúng vai</a:t>
            </a:r>
            <a:endParaRPr sz="1100"/>
          </a:p>
        </p:txBody>
      </p:sp>
      <p:sp>
        <p:nvSpPr>
          <p:cNvPr id="291" name="Google Shape;291;p34"/>
          <p:cNvSpPr txBox="1"/>
          <p:nvPr/>
        </p:nvSpPr>
        <p:spPr>
          <a:xfrm>
            <a:off x="5122069" y="3187451"/>
            <a:ext cx="292894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5ADBA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•</a:t>
            </a:r>
            <a:endParaRPr sz="1100"/>
          </a:p>
        </p:txBody>
      </p:sp>
      <p:sp>
        <p:nvSpPr>
          <p:cNvPr id="292" name="Google Shape;292;p34"/>
          <p:cNvSpPr txBox="1"/>
          <p:nvPr/>
        </p:nvSpPr>
        <p:spPr>
          <a:xfrm>
            <a:off x="5454253" y="3187451"/>
            <a:ext cx="1393031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5ADBA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3. Paid đúng lúc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